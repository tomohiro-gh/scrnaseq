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370" r:id="rId2"/>
    <p:sldId id="372" r:id="rId3"/>
    <p:sldId id="371" r:id="rId4"/>
    <p:sldId id="260" r:id="rId5"/>
  </p:sldIdLst>
  <p:sldSz cx="9144000" cy="5143500" type="screen16x9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489"/>
    <p:restoredTop sz="98532"/>
  </p:normalViewPr>
  <p:slideViewPr>
    <p:cSldViewPr snapToGrid="0" snapToObjects="1">
      <p:cViewPr varScale="1">
        <p:scale>
          <a:sx n="165" d="100"/>
          <a:sy n="165" d="100"/>
        </p:scale>
        <p:origin x="114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250" d="100"/>
          <a:sy n="250" d="100"/>
        </p:scale>
        <p:origin x="4992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9A7B6B06-8293-1A4E-BCA8-C5E349246D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41253B0-7ACD-A841-A803-90FEF09342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11D03-C0BE-0A4F-BA89-8055D8997ACB}" type="datetime1">
              <a:rPr kumimoji="1" lang="ja-JP" altLang="en-US" smtClean="0"/>
              <a:t>2025/8/9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385B1F0-B8E7-D540-BD7D-FC77160A8AC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D08FB83-F6D6-684C-9E47-F282A270FB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56950-4BB9-8B47-96D4-EAF69AC95E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9377281"/>
      </p:ext>
    </p:extLst>
  </p:cSld>
  <p:clrMap bg1="lt1" tx1="dk1" bg2="lt2" tx2="dk2" accent1="accent1" accent2="accent2" accent3="accent3" accent4="accent4" accent5="accent5" accent6="accent6" hlink="hlink" folHlink="folHlink"/>
  <p:hf hdr="0" ft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A5DCCD-2CB8-C04B-8A68-C3F7092D3C18}" type="datetime1">
              <a:rPr kumimoji="1" lang="ja-JP" altLang="en-US" smtClean="0"/>
              <a:t>2025/8/9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8B9E8-49E3-1748-BBA2-B42B32A38E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173412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2424DD-09A5-4987-6DFE-0B0B7FC7A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48925-9830-604B-A9F1-3093D04F1D0A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844418B8-DB31-D61C-5633-57453234E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891" y="0"/>
            <a:ext cx="8229601" cy="305915"/>
          </a:xfrm>
        </p:spPr>
        <p:txBody>
          <a:bodyPr/>
          <a:lstStyle/>
          <a:p>
            <a:r>
              <a:rPr kumimoji="1" lang="en-US" altLang="ja-JP" dirty="0"/>
              <a:t>Title</a:t>
            </a:r>
            <a:endParaRPr kumimoji="1" lang="ja-JP" altLang="en-US"/>
          </a:p>
        </p:txBody>
      </p:sp>
      <p:sp>
        <p:nvSpPr>
          <p:cNvPr id="8" name="テキスト プレースホルダー 15">
            <a:extLst>
              <a:ext uri="{FF2B5EF4-FFF2-40B4-BE49-F238E27FC236}">
                <a16:creationId xmlns:a16="http://schemas.microsoft.com/office/drawing/2014/main" id="{C903D058-31A8-7ADC-7CDE-2B1EE797EA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2542" y="12199"/>
            <a:ext cx="626533" cy="140758"/>
          </a:xfr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5pPr>
              <a:defRPr sz="900"/>
            </a:lvl5pPr>
          </a:lstStyle>
          <a:p>
            <a:pPr lvl="0"/>
            <a:r>
              <a:rPr kumimoji="1" lang="en-US" altLang="ja-JP" dirty="0"/>
              <a:t>mm/dd/</a:t>
            </a:r>
            <a:r>
              <a:rPr kumimoji="1" lang="en-US" altLang="ja-JP" dirty="0" err="1"/>
              <a:t>yy</a:t>
            </a:r>
            <a:endParaRPr kumimoji="1" lang="ja-JP" altLang="en-US"/>
          </a:p>
        </p:txBody>
      </p:sp>
      <p:sp>
        <p:nvSpPr>
          <p:cNvPr id="9" name="テキスト プレースホルダー 15">
            <a:extLst>
              <a:ext uri="{FF2B5EF4-FFF2-40B4-BE49-F238E27FC236}">
                <a16:creationId xmlns:a16="http://schemas.microsoft.com/office/drawing/2014/main" id="{5E3EA7B7-5206-2010-3CD0-006263DECB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2541" y="183554"/>
            <a:ext cx="626533" cy="140758"/>
          </a:xfr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5pPr>
              <a:defRPr sz="900"/>
            </a:lvl5pPr>
          </a:lstStyle>
          <a:p>
            <a:pPr lvl="0"/>
            <a:r>
              <a:rPr kumimoji="1" lang="en-US" altLang="ja-JP" dirty="0" err="1"/>
              <a:t>Exp.XXX</a:t>
            </a:r>
            <a:endParaRPr kumimoji="1" lang="ja-JP" altLang="en-US"/>
          </a:p>
        </p:txBody>
      </p:sp>
      <p:sp>
        <p:nvSpPr>
          <p:cNvPr id="12" name="テキスト プレースホルダー 18">
            <a:extLst>
              <a:ext uri="{FF2B5EF4-FFF2-40B4-BE49-F238E27FC236}">
                <a16:creationId xmlns:a16="http://schemas.microsoft.com/office/drawing/2014/main" id="{C476EFD2-DC2A-BABD-3EA1-967E8EB32C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356806"/>
            <a:ext cx="6553200" cy="270257"/>
          </a:xfrm>
        </p:spPr>
        <p:txBody>
          <a:bodyPr lIns="36000" tIns="36000" rIns="36000" bIns="36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English</a:t>
            </a:r>
          </a:p>
          <a:p>
            <a:pPr lvl="0"/>
            <a:endParaRPr kumimoji="1" lang="ja-JP" altLang="en-US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89DE7AE-4BF3-9BB0-A591-149F9CCA3EEA}"/>
              </a:ext>
            </a:extLst>
          </p:cNvPr>
          <p:cNvSpPr txBox="1"/>
          <p:nvPr userDrawn="1"/>
        </p:nvSpPr>
        <p:spPr>
          <a:xfrm>
            <a:off x="459372" y="753156"/>
            <a:ext cx="2695903" cy="22465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algn="l"/>
            <a:endParaRPr kumimoji="1" lang="ja-JP" altLang="en-US" sz="1000" dirty="0"/>
          </a:p>
        </p:txBody>
      </p:sp>
      <p:sp>
        <p:nvSpPr>
          <p:cNvPr id="3" name="テキスト プレースホルダー 18">
            <a:extLst>
              <a:ext uri="{FF2B5EF4-FFF2-40B4-BE49-F238E27FC236}">
                <a16:creationId xmlns:a16="http://schemas.microsoft.com/office/drawing/2014/main" id="{C86BD9EE-1982-199C-7EDD-C0B985A7C3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03213" y="379604"/>
            <a:ext cx="1762392" cy="224659"/>
          </a:xfrm>
        </p:spPr>
        <p:txBody>
          <a:bodyPr lIns="36000" tIns="36000" rIns="36000" bIns="3600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DAPI ERG</a:t>
            </a:r>
          </a:p>
          <a:p>
            <a:pPr lvl="0"/>
            <a:endParaRPr kumimoji="1" lang="ja-JP" altLang="en-US"/>
          </a:p>
        </p:txBody>
      </p:sp>
      <p:sp>
        <p:nvSpPr>
          <p:cNvPr id="7" name="テキスト プレースホルダー 18">
            <a:extLst>
              <a:ext uri="{FF2B5EF4-FFF2-40B4-BE49-F238E27FC236}">
                <a16:creationId xmlns:a16="http://schemas.microsoft.com/office/drawing/2014/main" id="{F1B6208A-81BA-D618-7554-8F843FA14D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967962" y="1595026"/>
            <a:ext cx="2160586" cy="224659"/>
          </a:xfrm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Sample #1</a:t>
            </a:r>
          </a:p>
        </p:txBody>
      </p:sp>
      <p:sp>
        <p:nvSpPr>
          <p:cNvPr id="11" name="テキスト プレースホルダー 18">
            <a:extLst>
              <a:ext uri="{FF2B5EF4-FFF2-40B4-BE49-F238E27FC236}">
                <a16:creationId xmlns:a16="http://schemas.microsoft.com/office/drawing/2014/main" id="{7AEB461F-BC8B-7DDB-CA75-EA0890F55B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 rot="16200000">
            <a:off x="-974159" y="3792129"/>
            <a:ext cx="2160586" cy="224659"/>
          </a:xfrm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Sample #2</a:t>
            </a:r>
          </a:p>
        </p:txBody>
      </p:sp>
    </p:spTree>
    <p:extLst>
      <p:ext uri="{BB962C8B-B14F-4D97-AF65-F5344CB8AC3E}">
        <p14:creationId xmlns:p14="http://schemas.microsoft.com/office/powerpoint/2010/main" val="3735679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56" userDrawn="1">
          <p15:clr>
            <a:srgbClr val="FBAE40"/>
          </p15:clr>
        </p15:guide>
        <p15:guide id="2" pos="2903" userDrawn="1">
          <p15:clr>
            <a:srgbClr val="FBAE40"/>
          </p15:clr>
        </p15:guide>
        <p15:guide id="4" orient="horz" pos="1779" userDrawn="1">
          <p15:clr>
            <a:srgbClr val="FBAE40"/>
          </p15:clr>
        </p15:guide>
        <p15:guide id="5" pos="2925" userDrawn="1">
          <p15:clr>
            <a:srgbClr val="FBAE40"/>
          </p15:clr>
        </p15:guide>
        <p15:guide id="7" pos="4309" userDrawn="1">
          <p15:clr>
            <a:srgbClr val="FBAE40"/>
          </p15:clr>
        </p15:guide>
        <p15:guide id="8" pos="4286" userDrawn="1">
          <p15:clr>
            <a:srgbClr val="FBAE40"/>
          </p15:clr>
        </p15:guide>
        <p15:guide id="10" pos="5670" userDrawn="1">
          <p15:clr>
            <a:srgbClr val="FBAE40"/>
          </p15:clr>
        </p15:guide>
        <p15:guide id="11" pos="158">
          <p15:clr>
            <a:srgbClr val="FBAE40"/>
          </p15:clr>
        </p15:guide>
        <p15:guide id="14" pos="1519">
          <p15:clr>
            <a:srgbClr val="FBAE40"/>
          </p15:clr>
        </p15:guide>
        <p15:guide id="16" pos="1542" userDrawn="1">
          <p15:clr>
            <a:srgbClr val="FBAE40"/>
          </p15:clr>
        </p15:guide>
        <p15:guide id="17" orient="horz" pos="395" userDrawn="1">
          <p15:clr>
            <a:srgbClr val="FBAE40"/>
          </p15:clr>
        </p15:guide>
        <p15:guide id="19" orient="horz" pos="31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タイトルのみ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02424DD-09A5-4987-6DFE-0B0B7FC7A2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448925-9830-604B-A9F1-3093D04F1D0A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9">
            <a:extLst>
              <a:ext uri="{FF2B5EF4-FFF2-40B4-BE49-F238E27FC236}">
                <a16:creationId xmlns:a16="http://schemas.microsoft.com/office/drawing/2014/main" id="{844418B8-DB31-D61C-5633-57453234E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135" y="0"/>
            <a:ext cx="8376405" cy="305915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</a:t>
            </a:r>
            <a:endParaRPr kumimoji="1" lang="ja-JP" altLang="en-US"/>
          </a:p>
        </p:txBody>
      </p:sp>
      <p:sp>
        <p:nvSpPr>
          <p:cNvPr id="3" name="タイトル 9">
            <a:extLst>
              <a:ext uri="{FF2B5EF4-FFF2-40B4-BE49-F238E27FC236}">
                <a16:creationId xmlns:a16="http://schemas.microsoft.com/office/drawing/2014/main" id="{3209AB58-80E9-CDF3-10EA-FD37FECA9065}"/>
              </a:ext>
            </a:extLst>
          </p:cNvPr>
          <p:cNvSpPr txBox="1">
            <a:spLocks/>
          </p:cNvSpPr>
          <p:nvPr userDrawn="1"/>
        </p:nvSpPr>
        <p:spPr>
          <a:xfrm>
            <a:off x="7805210" y="1998133"/>
            <a:ext cx="575732" cy="19755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600" kern="1200">
                <a:solidFill>
                  <a:schemeClr val="bg1"/>
                </a:solidFill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defRPr>
            </a:lvl1pPr>
          </a:lstStyle>
          <a:p>
            <a:endParaRPr lang="ja-JP" altLang="en-US" sz="10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900E302-374A-B867-BA69-4F571A830C32}"/>
              </a:ext>
            </a:extLst>
          </p:cNvPr>
          <p:cNvSpPr txBox="1"/>
          <p:nvPr userDrawn="1"/>
        </p:nvSpPr>
        <p:spPr>
          <a:xfrm>
            <a:off x="5102578" y="1732844"/>
            <a:ext cx="0" cy="0"/>
          </a:xfrm>
          <a:prstGeom prst="rect">
            <a:avLst/>
          </a:prstGeom>
        </p:spPr>
        <p:txBody>
          <a:bodyPr vert="horz" wrap="none" lIns="0" tIns="0" rIns="0" bIns="0" rtlCol="0" anchor="ctr">
            <a:normAutofit fontScale="25000" lnSpcReduction="20000"/>
          </a:bodyPr>
          <a:lstStyle/>
          <a:p>
            <a:pPr algn="l"/>
            <a:endParaRPr kumimoji="1" lang="ja-JP" altLang="en-US" sz="1000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458F88A7-F9DB-D7F4-327A-915AF18F52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2542" y="12199"/>
            <a:ext cx="626533" cy="140758"/>
          </a:xfr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5pPr>
              <a:defRPr sz="900"/>
            </a:lvl5pPr>
          </a:lstStyle>
          <a:p>
            <a:pPr lvl="0"/>
            <a:r>
              <a:rPr kumimoji="1" lang="en-US" altLang="ja-JP" dirty="0"/>
              <a:t>mm/dd/</a:t>
            </a:r>
            <a:r>
              <a:rPr kumimoji="1" lang="en-US" altLang="ja-JP" dirty="0" err="1"/>
              <a:t>yy</a:t>
            </a:r>
            <a:endParaRPr kumimoji="1" lang="ja-JP" altLang="en-US"/>
          </a:p>
        </p:txBody>
      </p:sp>
      <p:sp>
        <p:nvSpPr>
          <p:cNvPr id="17" name="テキスト プレースホルダー 15">
            <a:extLst>
              <a:ext uri="{FF2B5EF4-FFF2-40B4-BE49-F238E27FC236}">
                <a16:creationId xmlns:a16="http://schemas.microsoft.com/office/drawing/2014/main" id="{E0D2E87C-EA69-BFB2-6120-105553FE19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2541" y="183554"/>
            <a:ext cx="626533" cy="140758"/>
          </a:xfr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5pPr>
              <a:defRPr sz="900"/>
            </a:lvl5pPr>
          </a:lstStyle>
          <a:p>
            <a:pPr lvl="0"/>
            <a:r>
              <a:rPr kumimoji="1" lang="en-US" altLang="ja-JP" dirty="0" err="1"/>
              <a:t>Exp.XXX</a:t>
            </a:r>
            <a:endParaRPr kumimoji="1" lang="ja-JP" alt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4E855BB3-D2A9-681D-14A1-3B485428801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825" y="362668"/>
            <a:ext cx="6553200" cy="258532"/>
          </a:xfrm>
        </p:spPr>
        <p:txBody>
          <a:bodyPr lIns="36000" tIns="36000" rIns="36000" bIns="36000" anchor="t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English</a:t>
            </a:r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3B0E61B-64D3-42B9-FD48-35AC9CF1119D}"/>
              </a:ext>
            </a:extLst>
          </p:cNvPr>
          <p:cNvSpPr txBox="1"/>
          <p:nvPr userDrawn="1"/>
        </p:nvSpPr>
        <p:spPr>
          <a:xfrm>
            <a:off x="1343378" y="671689"/>
            <a:ext cx="0" cy="0"/>
          </a:xfrm>
          <a:prstGeom prst="rect">
            <a:avLst/>
          </a:prstGeom>
        </p:spPr>
        <p:txBody>
          <a:bodyPr vert="horz" wrap="none" lIns="0" tIns="0" rIns="0" bIns="0" rtlCol="0" anchor="ctr">
            <a:normAutofit fontScale="25000" lnSpcReduction="20000"/>
          </a:bodyPr>
          <a:lstStyle/>
          <a:p>
            <a:pPr algn="l"/>
            <a:endParaRPr kumimoji="1" lang="ja-JP" altLang="en-US" sz="10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8FC4F43-9137-66B4-134C-13CAF97B3E67}"/>
              </a:ext>
            </a:extLst>
          </p:cNvPr>
          <p:cNvSpPr txBox="1"/>
          <p:nvPr userDrawn="1"/>
        </p:nvSpPr>
        <p:spPr>
          <a:xfrm>
            <a:off x="3234267" y="2658533"/>
            <a:ext cx="0" cy="0"/>
          </a:xfrm>
          <a:prstGeom prst="rect">
            <a:avLst/>
          </a:prstGeom>
        </p:spPr>
        <p:txBody>
          <a:bodyPr vert="horz" wrap="none" lIns="0" tIns="0" rIns="0" bIns="0" rtlCol="0" anchor="ctr">
            <a:normAutofit fontScale="25000" lnSpcReduction="20000"/>
          </a:bodyPr>
          <a:lstStyle/>
          <a:p>
            <a:pPr algn="l"/>
            <a:endParaRPr kumimoji="1" lang="ja-JP" altLang="en-US" sz="1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3911A5E-AD72-91DD-3A0C-56BBD255FE19}"/>
              </a:ext>
            </a:extLst>
          </p:cNvPr>
          <p:cNvSpPr txBox="1"/>
          <p:nvPr userDrawn="1"/>
        </p:nvSpPr>
        <p:spPr>
          <a:xfrm>
            <a:off x="7315200" y="1339516"/>
            <a:ext cx="0" cy="0"/>
          </a:xfrm>
          <a:prstGeom prst="rect">
            <a:avLst/>
          </a:prstGeom>
        </p:spPr>
        <p:txBody>
          <a:bodyPr vert="horz" wrap="none" lIns="0" tIns="0" rIns="0" bIns="0" rtlCol="0" anchor="ctr">
            <a:normAutofit fontScale="25000" lnSpcReduction="20000"/>
          </a:bodyPr>
          <a:lstStyle/>
          <a:p>
            <a:pPr algn="l"/>
            <a:endParaRPr kumimoji="1" lang="ja-JP" altLang="en-US" sz="1000" dirty="0"/>
          </a:p>
        </p:txBody>
      </p:sp>
      <p:sp>
        <p:nvSpPr>
          <p:cNvPr id="4" name="テキスト プレースホルダー 18">
            <a:extLst>
              <a:ext uri="{FF2B5EF4-FFF2-40B4-BE49-F238E27FC236}">
                <a16:creationId xmlns:a16="http://schemas.microsoft.com/office/drawing/2014/main" id="{1E22EE49-73CA-36E9-05DD-927EE2C12A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6200000">
            <a:off x="-967962" y="1595026"/>
            <a:ext cx="2160586" cy="224659"/>
          </a:xfrm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Sample #1</a:t>
            </a:r>
          </a:p>
        </p:txBody>
      </p:sp>
      <p:sp>
        <p:nvSpPr>
          <p:cNvPr id="7" name="テキスト プレースホルダー 18">
            <a:extLst>
              <a:ext uri="{FF2B5EF4-FFF2-40B4-BE49-F238E27FC236}">
                <a16:creationId xmlns:a16="http://schemas.microsoft.com/office/drawing/2014/main" id="{FD6067C6-3A20-B5BC-DEFA-86718754D8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974159" y="3792129"/>
            <a:ext cx="2160586" cy="224659"/>
          </a:xfrm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Sample #2</a:t>
            </a:r>
          </a:p>
        </p:txBody>
      </p:sp>
    </p:spTree>
    <p:extLst>
      <p:ext uri="{BB962C8B-B14F-4D97-AF65-F5344CB8AC3E}">
        <p14:creationId xmlns:p14="http://schemas.microsoft.com/office/powerpoint/2010/main" val="3230027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56" userDrawn="1">
          <p15:clr>
            <a:srgbClr val="FBAE40"/>
          </p15:clr>
        </p15:guide>
        <p15:guide id="2" pos="2903" userDrawn="1">
          <p15:clr>
            <a:srgbClr val="FBAE40"/>
          </p15:clr>
        </p15:guide>
        <p15:guide id="4" orient="horz" pos="1779" userDrawn="1">
          <p15:clr>
            <a:srgbClr val="FBAE40"/>
          </p15:clr>
        </p15:guide>
        <p15:guide id="5" pos="2925" userDrawn="1">
          <p15:clr>
            <a:srgbClr val="FBAE40"/>
          </p15:clr>
        </p15:guide>
        <p15:guide id="7" pos="4309" userDrawn="1">
          <p15:clr>
            <a:srgbClr val="FBAE40"/>
          </p15:clr>
        </p15:guide>
        <p15:guide id="8" pos="4286" userDrawn="1">
          <p15:clr>
            <a:srgbClr val="FBAE40"/>
          </p15:clr>
        </p15:guide>
        <p15:guide id="10" pos="5670" userDrawn="1">
          <p15:clr>
            <a:srgbClr val="FBAE40"/>
          </p15:clr>
        </p15:guide>
        <p15:guide id="11" pos="158">
          <p15:clr>
            <a:srgbClr val="FBAE40"/>
          </p15:clr>
        </p15:guide>
        <p15:guide id="14" pos="1519">
          <p15:clr>
            <a:srgbClr val="FBAE40"/>
          </p15:clr>
        </p15:guide>
        <p15:guide id="16" pos="1542" userDrawn="1">
          <p15:clr>
            <a:srgbClr val="FBAE40"/>
          </p15:clr>
        </p15:guide>
        <p15:guide id="17" orient="horz" pos="395" userDrawn="1">
          <p15:clr>
            <a:srgbClr val="FBAE40"/>
          </p15:clr>
        </p15:guide>
        <p15:guide id="19" orient="horz" pos="31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" y="0"/>
            <a:ext cx="8286750" cy="305915"/>
          </a:xfrm>
          <a:prstGeom prst="rect">
            <a:avLst/>
          </a:prstGeom>
        </p:spPr>
        <p:txBody>
          <a:bodyPr vert="horz" lIns="36000" tIns="36000" rIns="36000" bIns="36000" rtlCol="0" anchor="ctr">
            <a:normAutofit/>
          </a:bodyPr>
          <a:lstStyle/>
          <a:p>
            <a:r>
              <a:rPr lang="en-US" altLang="ja-JP" dirty="0"/>
              <a:t>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262" y="73679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 dirty="0"/>
              <a:t>English</a:t>
            </a:r>
            <a:r>
              <a:rPr lang="ja-JP" altLang="en-US"/>
              <a:t>の書式設定</a:t>
            </a:r>
            <a:r>
              <a:rPr lang="en-US" altLang="ja-JP" dirty="0"/>
              <a:t> </a:t>
            </a:r>
            <a:endParaRPr lang="ja-JP" altLang="en-US" dirty="0"/>
          </a:p>
          <a:p>
            <a:pPr marL="514350" marR="0" lvl="1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English </a:t>
            </a:r>
            <a:r>
              <a:rPr lang="ja-JP" altLang="en-US" dirty="0"/>
              <a:t>レベル</a:t>
            </a:r>
          </a:p>
          <a:p>
            <a:pPr lvl="2"/>
            <a:r>
              <a:rPr lang="en-US" altLang="ja-JP" dirty="0"/>
              <a:t>English </a:t>
            </a:r>
            <a:r>
              <a:rPr lang="ja-JP" altLang="en-US" dirty="0"/>
              <a:t>レベル</a:t>
            </a:r>
          </a:p>
          <a:p>
            <a:pPr lvl="3"/>
            <a:r>
              <a:rPr lang="en-US" altLang="ja-JP" dirty="0"/>
              <a:t>English </a:t>
            </a:r>
            <a:r>
              <a:rPr lang="ja-JP" altLang="en-US" dirty="0"/>
              <a:t>レベル</a:t>
            </a:r>
          </a:p>
          <a:p>
            <a:pPr lvl="4"/>
            <a:r>
              <a:rPr lang="en-US" altLang="ja-JP" dirty="0"/>
              <a:t>English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5605" y="4869657"/>
            <a:ext cx="4783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bg1"/>
                </a:solidFill>
                <a:latin typeface="Arial" panose="020B0604020202020204" pitchFamily="34" charset="0"/>
                <a:ea typeface="Hiragino Kaku Gothic Pro W3" panose="020B0300000000000000" pitchFamily="34" charset="-128"/>
                <a:cs typeface="Arial" panose="020B0604020202020204" pitchFamily="34" charset="0"/>
              </a:defRPr>
            </a:lvl1pPr>
          </a:lstStyle>
          <a:p>
            <a:fld id="{5B448925-9830-604B-A9F1-3093D04F1D0A}" type="slidenum">
              <a:rPr lang="ja-JP" altLang="en-US" smtClean="0"/>
              <a:pPr/>
              <a:t>‹#›</a:t>
            </a:fld>
            <a:endParaRPr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C160054-7115-464F-B265-FBD114AEFE0C}"/>
              </a:ext>
            </a:extLst>
          </p:cNvPr>
          <p:cNvCxnSpPr>
            <a:cxnSpLocks/>
          </p:cNvCxnSpPr>
          <p:nvPr userDrawn="1"/>
        </p:nvCxnSpPr>
        <p:spPr>
          <a:xfrm>
            <a:off x="-56147" y="327094"/>
            <a:ext cx="922922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87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1800" kern="1200">
          <a:solidFill>
            <a:schemeClr val="tx1"/>
          </a:solidFill>
          <a:latin typeface="Arial" panose="020B0604020202020204" pitchFamily="34" charset="0"/>
          <a:ea typeface="MS Gothic" panose="020B0609070205080204" pitchFamily="49" charset="-128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Arial" panose="020B0604020202020204" pitchFamily="34" charset="0"/>
          <a:ea typeface="Hiragino Kaku Gothic Pro W3" panose="020B0300000000000000" pitchFamily="34" charset="-128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kumimoji="1" sz="18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kumimoji="1" sz="150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kumimoji="1" sz="135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kumimoji="1" sz="1350" b="0" i="0" kern="1200">
          <a:solidFill>
            <a:schemeClr val="tx1"/>
          </a:solidFill>
          <a:latin typeface="Hiragino Kaku Gothic Pro W3" panose="020B0300000000000000" pitchFamily="34" charset="-128"/>
          <a:ea typeface="Hiragino Kaku Gothic Pro W3" panose="020B0300000000000000" pitchFamily="34" charset="-128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hris-mcginnis-ucsf/DoubletFinder/issues/220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E13A7BD9-8670-DBAA-21FB-E1BA6EEF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Doublet Finder</a:t>
            </a:r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F7AAE53E-5E8F-5A38-8CC1-4CFE249B7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7BB893F0-209E-B894-2C21-089DCD9A8F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7233A1ED-1350-1A59-A912-FE2BA3732C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5D8B481F-ECA4-02CA-CE73-1E9123CA5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825" y="2824163"/>
            <a:ext cx="7130503" cy="1451136"/>
          </a:xfrm>
        </p:spPr>
        <p:txBody>
          <a:bodyPr/>
          <a:lstStyle/>
          <a:p>
            <a:r>
              <a:rPr lang="en-US" altLang="ja-JP" dirty="0"/>
              <a:t>Conditioning for finding </a:t>
            </a:r>
            <a:r>
              <a:rPr lang="en-US" altLang="ja-JP" dirty="0" err="1"/>
              <a:t>pK</a:t>
            </a:r>
            <a:r>
              <a:rPr lang="en-US" altLang="ja-JP" dirty="0"/>
              <a:t> &gt; </a:t>
            </a:r>
            <a:r>
              <a:rPr lang="en-US" altLang="ja-JP" dirty="0" err="1"/>
              <a:t>pK</a:t>
            </a:r>
            <a:r>
              <a:rPr lang="ja-JP" altLang="en-US"/>
              <a:t>のピークは１つになることが望ましいが．．．より綺麗に</a:t>
            </a:r>
            <a:r>
              <a:rPr lang="en-US" altLang="ja-JP" dirty="0"/>
              <a:t>detect</a:t>
            </a:r>
            <a:r>
              <a:rPr lang="ja-JP" altLang="en-US"/>
              <a:t>するには，，，</a:t>
            </a:r>
            <a:endParaRPr lang="en-US" altLang="ja-JP" dirty="0"/>
          </a:p>
          <a:p>
            <a:r>
              <a:rPr lang="en-US" altLang="ja-JP" dirty="0"/>
              <a:t>raw data (all cell) vs after QC processed &gt; </a:t>
            </a:r>
          </a:p>
          <a:p>
            <a:endParaRPr lang="en-US" altLang="ja-JP" dirty="0"/>
          </a:p>
          <a:p>
            <a:r>
              <a:rPr lang="en-US" altLang="ja-JP" dirty="0"/>
              <a:t>PC</a:t>
            </a:r>
            <a:r>
              <a:rPr lang="ja-JP" altLang="en-US"/>
              <a:t>の数は</a:t>
            </a:r>
            <a:r>
              <a:rPr lang="en-US" altLang="ja-JP" dirty="0" err="1"/>
              <a:t>initail</a:t>
            </a:r>
            <a:r>
              <a:rPr lang="en-US" altLang="ja-JP" dirty="0"/>
              <a:t> clustering</a:t>
            </a:r>
            <a:r>
              <a:rPr lang="ja-JP" altLang="en-US"/>
              <a:t>と同じにすべき！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ピークがいくつか出てしまった場合，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9D2D2F21-5262-C990-26A5-451624F777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12721E85-A727-790A-419C-119F9F1215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0A83AD-86BC-35AD-D093-34CB8A6621D1}"/>
              </a:ext>
            </a:extLst>
          </p:cNvPr>
          <p:cNvSpPr txBox="1"/>
          <p:nvPr/>
        </p:nvSpPr>
        <p:spPr>
          <a:xfrm>
            <a:off x="0" y="5005001"/>
            <a:ext cx="4608513" cy="1384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ty" panose="020B0509020203020207" pitchFamily="49" charset="-128"/>
              <a:ea typeface="Ricty" panose="020B0509020203020207" pitchFamily="49" charset="-128"/>
              <a:cs typeface="Ricty" panose="020B0509020203020207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3124526-8A15-5FCB-46B8-06098CBA3EEF}"/>
              </a:ext>
            </a:extLst>
          </p:cNvPr>
          <p:cNvSpPr txBox="1"/>
          <p:nvPr/>
        </p:nvSpPr>
        <p:spPr>
          <a:xfrm>
            <a:off x="6525087" y="5005001"/>
            <a:ext cx="2618913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ty" panose="020B0509020203020207" pitchFamily="49" charset="-128"/>
              <a:ea typeface="Ricty" panose="020B0509020203020207" pitchFamily="49" charset="-128"/>
              <a:cs typeface="Ricty" panose="020B0509020203020207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743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7396B-4125-383F-4923-76FD655B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B39C97BE-8680-B8AA-4A13-3D5DB8D4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Doublet Finder</a:t>
            </a:r>
            <a:endParaRPr lang="ja-JP" alt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B062A77-A69C-BC1A-4F14-4D6F61EA50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E941C4DA-AC63-E1FF-EA45-849C4A3DFC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4E22A5F3-8E35-D7EE-EF42-7286810947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" altLang="ja-JP" dirty="0">
                <a:hlinkClick r:id="rId2"/>
              </a:rPr>
              <a:t>250810 </a:t>
            </a:r>
            <a:r>
              <a:rPr lang="ja-JP" altLang="en-US">
                <a:hlinkClick r:id="rId2"/>
              </a:rPr>
              <a:t>トラブル： </a:t>
            </a:r>
            <a:r>
              <a:rPr lang="en" altLang="ja-JP" dirty="0"/>
              <a:t>bug in </a:t>
            </a:r>
            <a:r>
              <a:rPr lang="en" altLang="ja-JP" dirty="0" err="1"/>
              <a:t>doubletFinder</a:t>
            </a:r>
            <a:r>
              <a:rPr lang="en" altLang="ja-JP" dirty="0"/>
              <a:t> code when </a:t>
            </a:r>
            <a:r>
              <a:rPr lang="en" altLang="ja-JP" dirty="0" err="1"/>
              <a:t>reuse.pANN</a:t>
            </a:r>
            <a:r>
              <a:rPr lang="en" altLang="ja-JP" dirty="0"/>
              <a:t> not FALSE #220</a:t>
            </a:r>
            <a:endParaRPr lang="en" altLang="ja-JP" dirty="0">
              <a:hlinkClick r:id="rId2"/>
            </a:endParaRPr>
          </a:p>
          <a:p>
            <a:r>
              <a:rPr lang="en" altLang="ja-JP" dirty="0">
                <a:hlinkClick r:id="rId2"/>
              </a:rPr>
              <a:t>https://github.com/chris-mcginnis-ucsf/DoubletFinder/issues/220</a:t>
            </a:r>
            <a:endParaRPr lang="en" altLang="ja-JP" dirty="0"/>
          </a:p>
          <a:p>
            <a:endParaRPr lang="en" altLang="ja-JP" dirty="0"/>
          </a:p>
          <a:p>
            <a:r>
              <a:rPr lang="en" altLang="ja-JP" dirty="0"/>
              <a:t>#&gt; manually worked </a:t>
            </a:r>
          </a:p>
          <a:p>
            <a:r>
              <a:rPr lang="en" altLang="ja-JP" dirty="0"/>
              <a:t>#&gt;https://</a:t>
            </a:r>
            <a:r>
              <a:rPr lang="en" altLang="ja-JP" dirty="0" err="1"/>
              <a:t>github.com</a:t>
            </a:r>
            <a:r>
              <a:rPr lang="en" altLang="ja-JP" dirty="0"/>
              <a:t>/</a:t>
            </a:r>
            <a:r>
              <a:rPr lang="en" altLang="ja-JP" dirty="0" err="1"/>
              <a:t>chris-mcginnis-ucsf</a:t>
            </a:r>
            <a:r>
              <a:rPr lang="en" altLang="ja-JP" dirty="0"/>
              <a:t>/</a:t>
            </a:r>
            <a:r>
              <a:rPr lang="en" altLang="ja-JP" dirty="0" err="1"/>
              <a:t>DoubletFinder</a:t>
            </a:r>
            <a:r>
              <a:rPr lang="en" altLang="ja-JP" dirty="0"/>
              <a:t>/issues/220#issuecomment-2703992695</a:t>
            </a:r>
          </a:p>
          <a:p>
            <a:endParaRPr lang="en" altLang="ja-JP" dirty="0"/>
          </a:p>
          <a:p>
            <a:endParaRPr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C85649B5-D473-377D-6A83-65DE5A5E7D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825" y="2824163"/>
            <a:ext cx="7130503" cy="1451136"/>
          </a:xfrm>
        </p:spPr>
        <p:txBody>
          <a:bodyPr/>
          <a:lstStyle/>
          <a:p>
            <a:r>
              <a:rPr lang="en-US" altLang="ja-JP" dirty="0"/>
              <a:t>Conditioning for finding </a:t>
            </a:r>
            <a:r>
              <a:rPr lang="en-US" altLang="ja-JP" dirty="0" err="1"/>
              <a:t>pK</a:t>
            </a:r>
            <a:r>
              <a:rPr lang="en-US" altLang="ja-JP" dirty="0"/>
              <a:t> &gt; </a:t>
            </a:r>
            <a:r>
              <a:rPr lang="en-US" altLang="ja-JP" dirty="0" err="1"/>
              <a:t>pK</a:t>
            </a:r>
            <a:r>
              <a:rPr lang="ja-JP" altLang="en-US"/>
              <a:t>のピークは１つになることが望ましいが．．．より綺麗に</a:t>
            </a:r>
            <a:r>
              <a:rPr lang="en-US" altLang="ja-JP" dirty="0"/>
              <a:t>detect</a:t>
            </a:r>
            <a:r>
              <a:rPr lang="ja-JP" altLang="en-US"/>
              <a:t>するには，，，</a:t>
            </a:r>
            <a:endParaRPr lang="en-US" altLang="ja-JP" dirty="0"/>
          </a:p>
          <a:p>
            <a:r>
              <a:rPr lang="en-US" altLang="ja-JP" dirty="0"/>
              <a:t>raw data (all cell) vs after QC processed &gt; </a:t>
            </a:r>
          </a:p>
          <a:p>
            <a:endParaRPr lang="en-US" altLang="ja-JP" dirty="0"/>
          </a:p>
          <a:p>
            <a:r>
              <a:rPr lang="en-US" altLang="ja-JP" dirty="0"/>
              <a:t>PC</a:t>
            </a:r>
            <a:r>
              <a:rPr lang="ja-JP" altLang="en-US"/>
              <a:t>の数は</a:t>
            </a:r>
            <a:r>
              <a:rPr lang="en-US" altLang="ja-JP" dirty="0" err="1"/>
              <a:t>initail</a:t>
            </a:r>
            <a:r>
              <a:rPr lang="en-US" altLang="ja-JP" dirty="0"/>
              <a:t> clustering</a:t>
            </a:r>
            <a:r>
              <a:rPr lang="ja-JP" altLang="en-US"/>
              <a:t>と同じにすべき！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/>
              <a:t>ピークがいくつか出てしまった場合，</a:t>
            </a:r>
            <a:endParaRPr lang="en-US" altLang="ja-JP" dirty="0"/>
          </a:p>
          <a:p>
            <a:endParaRPr lang="en-US" altLang="ja-JP" dirty="0"/>
          </a:p>
          <a:p>
            <a:endParaRPr lang="ja-JP" altLang="en-US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AE007DD8-3931-3968-36A9-DF247B631E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45E3DCE3-3F2E-7C1B-BAE5-97E08695037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103EA79-34D0-B04B-3EF0-AB5DDC68CAE9}"/>
              </a:ext>
            </a:extLst>
          </p:cNvPr>
          <p:cNvSpPr txBox="1"/>
          <p:nvPr/>
        </p:nvSpPr>
        <p:spPr>
          <a:xfrm>
            <a:off x="0" y="5005001"/>
            <a:ext cx="4608513" cy="13849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ty" panose="020B0509020203020207" pitchFamily="49" charset="-128"/>
              <a:ea typeface="Ricty" panose="020B0509020203020207" pitchFamily="49" charset="-128"/>
              <a:cs typeface="Ricty" panose="020B0509020203020207" pitchFamily="49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CAEDFA-1E21-6EB4-9766-21856BBA9B4F}"/>
              </a:ext>
            </a:extLst>
          </p:cNvPr>
          <p:cNvSpPr txBox="1"/>
          <p:nvPr/>
        </p:nvSpPr>
        <p:spPr>
          <a:xfrm>
            <a:off x="6525087" y="5005001"/>
            <a:ext cx="2618913" cy="138499"/>
          </a:xfrm>
          <a:prstGeom prst="rect">
            <a:avLst/>
          </a:prstGeom>
          <a:solidFill>
            <a:srgbClr val="00B0F0"/>
          </a:solidFill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icty" panose="020B0509020203020207" pitchFamily="49" charset="-128"/>
              <a:ea typeface="Ricty" panose="020B0509020203020207" pitchFamily="49" charset="-128"/>
              <a:cs typeface="Ricty" panose="020B0509020203020207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0267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921CC7-BAED-BB84-FC27-EC8E6B1C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6B5FF2-FE06-4455-431E-CDD70D230A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D43AA3-693F-C715-3D88-AE24933D9E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7ADDF89-1BFB-C188-B3E1-25062122D2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E4434F7F-7B64-147E-CFBA-40AC7EDA58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6296738-649A-B65E-4B3F-62299E7BDA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37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ECD540-AB96-DD47-90B0-8DC0A50EF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Summary Exp000</a:t>
            </a:r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0A6DBE51-8750-131A-FD41-0BED50696C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F5499CEB-9DB8-F5E3-1488-32506CFD97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6B438E2C-835D-ED8C-071B-C35C262B35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endParaRPr lang="ja-JP" altLang="en-US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0319019-4244-DE4E-955D-7DD8BEB609C9}"/>
              </a:ext>
            </a:extLst>
          </p:cNvPr>
          <p:cNvSpPr txBox="1"/>
          <p:nvPr/>
        </p:nvSpPr>
        <p:spPr>
          <a:xfrm>
            <a:off x="250825" y="2832313"/>
            <a:ext cx="87503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900"/>
              </a:spcBef>
            </a:pPr>
            <a:r>
              <a:rPr lang="en-US" altLang="ja-JP" b="1" dirty="0"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Results and Discussion:</a:t>
            </a:r>
          </a:p>
          <a:p>
            <a:r>
              <a:rPr lang="en-US" altLang="ja-JP" sz="1600" dirty="0" err="1">
                <a:latin typeface="Arial" panose="020B0604020202020204" pitchFamily="34" charset="0"/>
                <a:ea typeface="MS Gothic" panose="020B0609070205080204" pitchFamily="49" charset="-128"/>
                <a:cs typeface="Arial" panose="020B0604020202020204" pitchFamily="34" charset="0"/>
              </a:rPr>
              <a:t>xxxxxxx</a:t>
            </a:r>
            <a:endParaRPr lang="en-US" altLang="ja-JP" sz="1600" dirty="0">
              <a:latin typeface="Arial" panose="020B0604020202020204" pitchFamily="34" charset="0"/>
              <a:ea typeface="MS Gothic" panose="020B0609070205080204" pitchFamily="49" charset="-128"/>
              <a:cs typeface="Arial" panose="020B0604020202020204" pitchFamily="34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61EDC8-8082-525F-8FB7-0E877E816E97}"/>
              </a:ext>
            </a:extLst>
          </p:cNvPr>
          <p:cNvSpPr txBox="1"/>
          <p:nvPr/>
        </p:nvSpPr>
        <p:spPr>
          <a:xfrm>
            <a:off x="2471225" y="3512234"/>
            <a:ext cx="0" cy="0"/>
          </a:xfrm>
          <a:prstGeom prst="rect">
            <a:avLst/>
          </a:prstGeom>
        </p:spPr>
        <p:txBody>
          <a:bodyPr vert="horz" wrap="none" lIns="0" tIns="0" rIns="0" bIns="0" rtlCol="0" anchor="ctr">
            <a:normAutofit fontScale="25000" lnSpcReduction="20000"/>
          </a:bodyPr>
          <a:lstStyle/>
          <a:p>
            <a:pPr algn="l"/>
            <a:endParaRPr kumimoji="1" lang="ja-JP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30692920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ホワイ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ホワイ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ホワイ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9050">
          <a:solidFill>
            <a:schemeClr val="bg1"/>
          </a:solidFill>
          <a:prstDash val="dash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ctr">
        <a:normAutofit/>
      </a:bodyPr>
      <a:lstStyle>
        <a:defPPr algn="l">
          <a:defRPr sz="1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647BE772-53E2-BB45-96D0-AFD80A1AF46A}" vid="{7A414B6A-52D7-1945-842A-B95D762A1DA0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ホワイト</Template>
  <TotalTime>35</TotalTime>
  <Words>178</Words>
  <Application>Microsoft Macintosh PowerPoint</Application>
  <PresentationFormat>画面に合わせる (16:9)</PresentationFormat>
  <Paragraphs>22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Hiragino Kaku Gothic Pro W3</vt:lpstr>
      <vt:lpstr>Ricty</vt:lpstr>
      <vt:lpstr>Yu Gothic</vt:lpstr>
      <vt:lpstr>Yu Gothic</vt:lpstr>
      <vt:lpstr>Arial</vt:lpstr>
      <vt:lpstr>ホワイト</vt:lpstr>
      <vt:lpstr>Doublet Finder</vt:lpstr>
      <vt:lpstr>Doublet Finder</vt:lpstr>
      <vt:lpstr>PowerPoint プレゼンテーション</vt:lpstr>
      <vt:lpstr>Summary Exp000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Tomohiro Ishii</dc:creator>
  <cp:lastModifiedBy>Tomohiro Ishii</cp:lastModifiedBy>
  <cp:revision>4</cp:revision>
  <dcterms:created xsi:type="dcterms:W3CDTF">2025-08-09T16:33:25Z</dcterms:created>
  <dcterms:modified xsi:type="dcterms:W3CDTF">2025-08-09T17:09:04Z</dcterms:modified>
</cp:coreProperties>
</file>